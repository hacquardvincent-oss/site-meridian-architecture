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868680" y="1024128"/>
            <a:ext cx="457200" cy="0"/>
          </a:xfrm>
          <a:prstGeom prst="line">
            <a:avLst/>
          </a:prstGeom>
          <a:ln w="15240">
            <a:solidFill>
              <a:srgbClr val="8E8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68680" y="1024128"/>
            <a:ext cx="0" cy="457200"/>
          </a:xfrm>
          <a:prstGeom prst="line">
            <a:avLst/>
          </a:prstGeom>
          <a:ln w="15240">
            <a:solidFill>
              <a:srgbClr val="8E8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77824" y="704088"/>
            <a:ext cx="109728" cy="109728"/>
          </a:xfrm>
          <a:prstGeom prst="ellipse">
            <a:avLst/>
          </a:prstGeom>
          <a:solidFill>
            <a:srgbClr val="9D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6035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anken Grotesk"/>
              </a:rPr>
              <a:t>Meridian</a:t>
            </a:r>
            <a:r>
              <a:rPr sz="1500" b="0" i="0">
                <a:solidFill>
                  <a:srgbClr val="9A9A9E"/>
                </a:solidFill>
                <a:latin typeface="Hanken Grotesk"/>
              </a:rPr>
              <a:t>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4055" y="621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 spc="150">
                <a:solidFill>
                  <a:srgbClr val="9DB8DD"/>
                </a:solidFill>
                <a:latin typeface="Hanken Grotesk"/>
              </a:rPr>
              <a:t>PRÉSENTATION PROJET · 3 ÉTAPES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7132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80">
                <a:solidFill>
                  <a:srgbClr val="9DB8DD"/>
                </a:solidFill>
                <a:latin typeface="Hanken Grotesk"/>
              </a:rPr>
              <a:t>DE LA CONCEPTION À LA RENTABILITÉ</a:t>
            </a:r>
          </a:p>
          <a:p>
            <a:pPr algn="l">
              <a:lnSpc>
                <a:spcPct val="104000"/>
              </a:lnSpc>
            </a:pPr>
            <a:r>
              <a:rPr sz="3500" b="0" i="0">
                <a:solidFill>
                  <a:srgbClr val="FFFFFF"/>
                </a:solidFill>
                <a:latin typeface="Hanken Grotesk"/>
              </a:rPr>
              <a:t>Piloter la rentabilité </a:t>
            </a:r>
            <a:r>
              <a:rPr sz="3500" b="0" i="1">
                <a:solidFill>
                  <a:srgbClr val="FFFFFF"/>
                </a:solidFill>
                <a:latin typeface="Hanken Grotesk"/>
              </a:rPr>
              <a:t>de chaque produit.</a:t>
            </a:r>
          </a:p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C9C9CC"/>
                </a:solidFill>
                <a:latin typeface="Hanken Grotesk"/>
              </a:rPr>
              <a:t>Structurer le produit (PLM), mesurer la performance (BI), puis piloter la conception par la donnée — accéléré par l'IA.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6199632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63276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40">
                <a:solidFill>
                  <a:srgbClr val="8E8E92"/>
                </a:solidFill>
                <a:latin typeface="Hanken Grotesk"/>
              </a:rPr>
              <a:t>PRÉSENTATION À VOTRE DIRECTION      MERIDIAN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L'AGENCE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6355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0" i="0">
                <a:solidFill>
                  <a:srgbClr val="0E0E10"/>
                </a:solidFill>
                <a:latin typeface="Hanken Grotesk"/>
              </a:rPr>
              <a:t>Le logiciel comme </a:t>
            </a:r>
            <a:r>
              <a:rPr sz="2900" b="0" i="1">
                <a:solidFill>
                  <a:srgbClr val="6F93C4"/>
                </a:solidFill>
                <a:latin typeface="Hanken Grotesk"/>
              </a:rPr>
              <a:t>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1097280"/>
            <a:ext cx="4160520" cy="48920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60920" y="1097280"/>
            <a:ext cx="4160520" cy="0"/>
          </a:xfrm>
          <a:prstGeom prst="line">
            <a:avLst/>
          </a:prstGeom>
          <a:ln w="1651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60920" y="5989320"/>
            <a:ext cx="4160520" cy="0"/>
          </a:xfrm>
          <a:prstGeom prst="line">
            <a:avLst/>
          </a:prstGeom>
          <a:ln w="1270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s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34440"/>
            <a:ext cx="3768436" cy="466344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868680" y="3218688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97864" y="310896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0E0E10"/>
                </a:solidFill>
                <a:latin typeface="Hanken Grotesk"/>
              </a:rPr>
              <a:t>Sur-mesure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3454A"/>
                </a:solidFill>
                <a:latin typeface="Hanken Grotesk"/>
              </a:rPr>
              <a:t>l'outil épouse votre métier, pas l'inverse.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968496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7864" y="3858768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0E0E10"/>
                </a:solidFill>
                <a:latin typeface="Hanken Grotesk"/>
              </a:rPr>
              <a:t>Interconnecté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3454A"/>
                </a:solidFill>
                <a:latin typeface="Hanken Grotesk"/>
              </a:rPr>
              <a:t>une donnée saisie une fois, disponible partout.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718304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97864" y="460857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0E0E10"/>
                </a:solidFill>
                <a:latin typeface="Hanken Grotesk"/>
              </a:rPr>
              <a:t>Propulsé par l'IA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3454A"/>
                </a:solidFill>
                <a:latin typeface="Hanken Grotesk"/>
              </a:rPr>
              <a:t>conçu et construit vite — le sur-mesure devient abordable.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UN ARCHITECTE, PAS UN VENDEUR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LE CONSTAT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6355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0E0E10"/>
                </a:solidFill>
                <a:latin typeface="Hanken Grotesk"/>
              </a:rPr>
              <a:t>Votre rentabilité produit est </a:t>
            </a:r>
            <a:r>
              <a:rPr sz="2400" b="0" i="1">
                <a:solidFill>
                  <a:srgbClr val="6F93C4"/>
                </a:solidFill>
                <a:latin typeface="Hanken Grotesk"/>
              </a:rPr>
              <a:t>invisible.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1143000"/>
            <a:ext cx="4160520" cy="48006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60920" y="1143000"/>
            <a:ext cx="4160520" cy="0"/>
          </a:xfrm>
          <a:prstGeom prst="line">
            <a:avLst/>
          </a:prstGeom>
          <a:ln w="1651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60920" y="5943600"/>
            <a:ext cx="4160520" cy="0"/>
          </a:xfrm>
          <a:prstGeom prst="line">
            <a:avLst/>
          </a:prstGeom>
          <a:ln w="1270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geo_fragments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19500" cy="43434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868680" y="2532888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97864" y="2423160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0E10"/>
                </a:solidFill>
                <a:latin typeface="Hanken Grotesk"/>
              </a:rPr>
              <a:t>Cloisonné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conception, production et ventes : des outils séparés.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282696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7864" y="3172968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0E10"/>
                </a:solidFill>
                <a:latin typeface="Hanken Grotesk"/>
              </a:rPr>
              <a:t>Aucun lien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le coût de création ne rencontre jamais la marge réelle.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032504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97864" y="3922776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0E10"/>
                </a:solidFill>
                <a:latin typeface="Hanken Grotesk"/>
              </a:rPr>
              <a:t>À l'aveugle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impossible de savoir ce qui est vraiment rentable, par canal.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782312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97864" y="4672584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0E10"/>
                </a:solidFill>
                <a:latin typeface="Hanken Grotesk"/>
              </a:rPr>
              <a:t>À l'instinct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les choix de collection se font sans la donnée.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LE COÛT CACHÉ DES SILOS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LA VISION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E0E10"/>
                </a:solidFill>
                <a:latin typeface="Hanken Grotesk"/>
              </a:rPr>
              <a:t>Un projet </a:t>
            </a:r>
            <a:r>
              <a:rPr sz="2700" b="0" i="1">
                <a:solidFill>
                  <a:srgbClr val="6F93C4"/>
                </a:solidFill>
                <a:latin typeface="Hanken Grotesk"/>
              </a:rPr>
              <a:t>en 3 étapes.</a:t>
            </a:r>
          </a:p>
        </p:txBody>
      </p:sp>
      <p:pic>
        <p:nvPicPr>
          <p:cNvPr id="5" name="Picture 4" descr="dia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40280"/>
            <a:ext cx="9692640" cy="3495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8A8D93"/>
                </a:solidFill>
                <a:latin typeface="Hanken Grotesk"/>
              </a:rPr>
              <a:t>Le PLM structure le produit et ses coûts · la BI mesure la performance · le plan d'action referme la boucle.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ÉTAPE 1 — PLM (PRIORITAIRE)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0E0E10"/>
                </a:solidFill>
                <a:latin typeface="Hanken Grotesk"/>
              </a:rPr>
              <a:t>Cadrer la </a:t>
            </a:r>
            <a:r>
              <a:rPr sz="2600" b="0" i="1">
                <a:solidFill>
                  <a:srgbClr val="6F93C4"/>
                </a:solidFill>
                <a:latin typeface="Hanken Grotesk"/>
              </a:rPr>
              <a:t>conception produit.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441448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97864" y="2331720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Coûts fournisseurs &amp; PRI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la structure de coût de chaque produit, claire.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191256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97864" y="3081527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Cadrage conception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du brief à la fiche produit validée.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941063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97864" y="3831335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Canaux définis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wholesale / retail / digital, dès la conception.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690872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7864" y="4581144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Souple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sur-mesure — l'inverse de la rigidité d'un Centric.</a:t>
            </a:r>
          </a:p>
        </p:txBody>
      </p:sp>
      <p:pic>
        <p:nvPicPr>
          <p:cNvPr id="13" name="Picture 12" descr="mock_p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54480"/>
            <a:ext cx="6446520" cy="400308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532120" y="1554480"/>
            <a:ext cx="6446520" cy="4003080"/>
          </a:xfrm>
          <a:prstGeom prst="rect">
            <a:avLst/>
          </a:prstGeom>
          <a:noFill/>
          <a:ln w="12700">
            <a:solidFill>
              <a:srgbClr val="CF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LA FONDATION : LE PRODUIT &amp; SES COÛTS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ÉTAPE 2 — BI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0E0E10"/>
                </a:solidFill>
                <a:latin typeface="Hanken Grotesk"/>
              </a:rPr>
              <a:t>Mesurer la performance, </a:t>
            </a:r>
            <a:r>
              <a:rPr sz="2400" b="0" i="1">
                <a:solidFill>
                  <a:srgbClr val="6F93C4"/>
                </a:solidFill>
                <a:latin typeface="Hanken Grotesk"/>
              </a:rPr>
              <a:t>par canal.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441448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97864" y="2331720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Performance par canal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ventes &amp; marge en wholesale / retail / digital.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191256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97864" y="3081527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Indicateurs clés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sell-through, taux de retour, top &amp; flop produits.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941063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97864" y="3831335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Sur vos données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consolidées, lisibles, sans export manuel.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690872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7864" y="4581144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Décision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ce qui marche vraiment, par produit et par canal.</a:t>
            </a:r>
          </a:p>
        </p:txBody>
      </p:sp>
      <p:pic>
        <p:nvPicPr>
          <p:cNvPr id="13" name="Picture 12" descr="mock_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54480"/>
            <a:ext cx="6446520" cy="400308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532120" y="1554480"/>
            <a:ext cx="6446520" cy="4003080"/>
          </a:xfrm>
          <a:prstGeom prst="rect">
            <a:avLst/>
          </a:prstGeom>
          <a:noFill/>
          <a:ln w="12700">
            <a:solidFill>
              <a:srgbClr val="CF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LA MESURE : QUI PERFORME, OÙ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ÉTAPE 3 — PLAN D'ACTION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0E0E10"/>
                </a:solidFill>
                <a:latin typeface="Hanken Grotesk"/>
              </a:rPr>
              <a:t>La donnée pilote </a:t>
            </a:r>
            <a:r>
              <a:rPr sz="2400" b="0" i="1">
                <a:solidFill>
                  <a:srgbClr val="6F93C4"/>
                </a:solidFill>
                <a:latin typeface="Hanken Grotesk"/>
              </a:rPr>
              <a:t>la collection.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441448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97864" y="2331720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Invendus wholesale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repérer ce que le marché n'a pas pris.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191256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97864" y="3081527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Retours &amp; best-sellers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ajuster, reconduire, décliner, sortir.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941063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97864" y="3831335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Rentabilité collection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la part de produits vraiment rentables.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690872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97864" y="4581144"/>
            <a:ext cx="4251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E0E10"/>
                </a:solidFill>
                <a:latin typeface="Hanken Grotesk"/>
              </a:rPr>
              <a:t>La boucle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454A"/>
                </a:solidFill>
                <a:latin typeface="Hanken Grotesk"/>
              </a:rPr>
              <a:t>la conception guidée par la donnée réelle.</a:t>
            </a:r>
          </a:p>
        </p:txBody>
      </p:sp>
      <p:pic>
        <p:nvPicPr>
          <p:cNvPr id="13" name="Picture 12" descr="mock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54480"/>
            <a:ext cx="6446520" cy="400308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532120" y="1554480"/>
            <a:ext cx="6446520" cy="4003080"/>
          </a:xfrm>
          <a:prstGeom prst="rect">
            <a:avLst/>
          </a:prstGeom>
          <a:noFill/>
          <a:ln w="12700">
            <a:solidFill>
              <a:srgbClr val="CF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LA BOUCLE : LA DONNÉE NOURRIT LA CONCEPTION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L'APPROCHE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E0E10"/>
                </a:solidFill>
                <a:latin typeface="Hanken Grotesk"/>
              </a:rPr>
              <a:t>Pourquoi </a:t>
            </a:r>
            <a:r>
              <a:rPr sz="2700" b="0" i="1">
                <a:solidFill>
                  <a:srgbClr val="6F93C4"/>
                </a:solidFill>
                <a:latin typeface="Hanken Grotesk"/>
              </a:rPr>
              <a:t>dans cet ordre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468880"/>
            <a:ext cx="3240938" cy="3108960"/>
          </a:xfrm>
          <a:prstGeom prst="rect">
            <a:avLst/>
          </a:prstGeom>
          <a:noFill/>
          <a:ln w="12700">
            <a:solidFill>
              <a:srgbClr val="CF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670048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8E3F2"/>
                </a:solidFill>
                <a:latin typeface="Hanken Grotes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200400"/>
            <a:ext cx="2838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E0E10"/>
                </a:solidFill>
                <a:latin typeface="Hanken Grotesk"/>
              </a:rPr>
              <a:t>Le produit d'abord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886200"/>
            <a:ext cx="283860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sans une structure de coût claire (PLM), aucune mesure n'est juste.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5378" y="2468880"/>
            <a:ext cx="3240938" cy="3108960"/>
          </a:xfrm>
          <a:prstGeom prst="rect">
            <a:avLst/>
          </a:prstGeom>
          <a:noFill/>
          <a:ln w="12700">
            <a:solidFill>
              <a:srgbClr val="CF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6546" y="2670048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8E3F2"/>
                </a:solidFill>
                <a:latin typeface="Hanken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546" y="3200400"/>
            <a:ext cx="2838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E0E10"/>
                </a:solidFill>
                <a:latin typeface="Hanken Grotesk"/>
              </a:rPr>
              <a:t>La mesure ensuite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546" y="3886200"/>
            <a:ext cx="283860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la BI s'appuie sur cette base fiable pour comparer, par canal.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2076" y="2468880"/>
            <a:ext cx="3240938" cy="3108960"/>
          </a:xfrm>
          <a:prstGeom prst="rect">
            <a:avLst/>
          </a:prstGeom>
          <a:noFill/>
          <a:ln w="12700">
            <a:solidFill>
              <a:srgbClr val="CFC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3244" y="2670048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8E3F2"/>
                </a:solidFill>
                <a:latin typeface="Hanken Grotes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244" y="3200400"/>
            <a:ext cx="2838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E0E10"/>
                </a:solidFill>
                <a:latin typeface="Hanken Grotesk"/>
              </a:rPr>
              <a:t>L'action enfin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244" y="3886200"/>
            <a:ext cx="283860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la donnée nourrit la conception — et chaque étape finance la suivante.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UNE PROGRESSION LOGIQUE &amp; DÉ-RISQUÉE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LA MÉTHODE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6355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0" i="0">
                <a:solidFill>
                  <a:srgbClr val="0E0E10"/>
                </a:solidFill>
                <a:latin typeface="Hanken Grotesk"/>
              </a:rPr>
              <a:t>Un plan </a:t>
            </a:r>
            <a:r>
              <a:rPr sz="2900" b="0" i="1">
                <a:solidFill>
                  <a:srgbClr val="6F93C4"/>
                </a:solidFill>
                <a:latin typeface="Hanken Grotesk"/>
              </a:rPr>
              <a:t>avant de bâtir.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1188720"/>
            <a:ext cx="4160520" cy="47548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60920" y="1188720"/>
            <a:ext cx="4160520" cy="0"/>
          </a:xfrm>
          <a:prstGeom prst="line">
            <a:avLst/>
          </a:prstGeom>
          <a:ln w="1651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60920" y="5943600"/>
            <a:ext cx="4160520" cy="0"/>
          </a:xfrm>
          <a:prstGeom prst="line">
            <a:avLst/>
          </a:prstGeom>
          <a:ln w="1270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geo_pl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17320"/>
            <a:ext cx="358140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7889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6F93C4"/>
                </a:solidFill>
                <a:latin typeface="Hanken Grotesk"/>
              </a:rPr>
              <a:t>01 · Cadrage   </a:t>
            </a:r>
            <a:r>
              <a:rPr sz="1200" b="0" i="0">
                <a:solidFill>
                  <a:srgbClr val="43454A"/>
                </a:solidFill>
                <a:latin typeface="Hanken Grotesk"/>
              </a:rPr>
              <a:t>on cartographie vos process produit &amp; données.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3264408"/>
            <a:ext cx="5760720" cy="0"/>
          </a:xfrm>
          <a:prstGeom prst="line">
            <a:avLst/>
          </a:prstGeom>
          <a:ln w="12700">
            <a:solidFill>
              <a:srgbClr val="E0E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342900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6F93C4"/>
                </a:solidFill>
                <a:latin typeface="Hanken Grotesk"/>
              </a:rPr>
              <a:t>02 · Conception   </a:t>
            </a:r>
            <a:r>
              <a:rPr sz="1200" b="0" i="0">
                <a:solidFill>
                  <a:srgbClr val="43454A"/>
                </a:solidFill>
                <a:latin typeface="Hanken Grotesk"/>
              </a:rPr>
              <a:t>on architecture l'écosystème.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904487"/>
            <a:ext cx="5760720" cy="0"/>
          </a:xfrm>
          <a:prstGeom prst="line">
            <a:avLst/>
          </a:prstGeom>
          <a:ln w="12700">
            <a:solidFill>
              <a:srgbClr val="E0E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0690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6F93C4"/>
                </a:solidFill>
                <a:latin typeface="Hanken Grotesk"/>
              </a:rPr>
              <a:t>03 · Build IA   </a:t>
            </a:r>
            <a:r>
              <a:rPr sz="1200" b="0" i="0">
                <a:solidFill>
                  <a:srgbClr val="43454A"/>
                </a:solidFill>
                <a:latin typeface="Hanken Grotesk"/>
              </a:rPr>
              <a:t>on construit vite et juste.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4544568"/>
            <a:ext cx="5760720" cy="0"/>
          </a:xfrm>
          <a:prstGeom prst="line">
            <a:avLst/>
          </a:prstGeom>
          <a:ln w="12700">
            <a:solidFill>
              <a:srgbClr val="E0E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47091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6F93C4"/>
                </a:solidFill>
                <a:latin typeface="Hanken Grotesk"/>
              </a:rPr>
              <a:t>04 · Intégration   </a:t>
            </a:r>
            <a:r>
              <a:rPr sz="1200" b="0" i="0">
                <a:solidFill>
                  <a:srgbClr val="43454A"/>
                </a:solidFill>
                <a:latin typeface="Hanken Grotesk"/>
              </a:rPr>
              <a:t>on connecte vos outils existants.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5184648"/>
            <a:ext cx="5760720" cy="0"/>
          </a:xfrm>
          <a:prstGeom prst="line">
            <a:avLst/>
          </a:prstGeom>
          <a:ln w="12700">
            <a:solidFill>
              <a:srgbClr val="E0E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534924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6F93C4"/>
                </a:solidFill>
                <a:latin typeface="Hanken Grotesk"/>
              </a:rPr>
              <a:t>05 · Évolution   </a:t>
            </a:r>
            <a:r>
              <a:rPr sz="1200" b="0" i="0">
                <a:solidFill>
                  <a:srgbClr val="43454A"/>
                </a:solidFill>
                <a:latin typeface="Hanken Grotesk"/>
              </a:rPr>
              <a:t>l'écosystème grandit avec vous.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5824728"/>
            <a:ext cx="5760720" cy="0"/>
          </a:xfrm>
          <a:prstGeom prst="line">
            <a:avLst/>
          </a:prstGeom>
          <a:ln w="12700">
            <a:solidFill>
              <a:srgbClr val="E0E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DU PLAN À L'ÉDIFICE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70">
                <a:solidFill>
                  <a:srgbClr val="6F93C4"/>
                </a:solidFill>
                <a:latin typeface="Hanken Grotesk"/>
              </a:rPr>
              <a:t>PILOTAGE &amp; EXPERTISE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1188720"/>
            <a:ext cx="566927" cy="0"/>
          </a:xfrm>
          <a:prstGeom prst="line">
            <a:avLst/>
          </a:prstGeom>
          <a:ln w="2159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371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0E0E10"/>
                </a:solidFill>
                <a:latin typeface="Hanken Grotesk"/>
              </a:rPr>
              <a:t>Votre chef de projet digital.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1188720"/>
            <a:ext cx="4160520" cy="47548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60920" y="1188720"/>
            <a:ext cx="4160520" cy="0"/>
          </a:xfrm>
          <a:prstGeom prst="line">
            <a:avLst/>
          </a:prstGeom>
          <a:ln w="1651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60920" y="5943600"/>
            <a:ext cx="4160520" cy="0"/>
          </a:xfrm>
          <a:prstGeom prst="line">
            <a:avLst/>
          </a:prstGeom>
          <a:ln w="1270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s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80160"/>
            <a:ext cx="3694545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42316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3454A"/>
                </a:solidFill>
                <a:latin typeface="Hanken Grotesk"/>
              </a:rPr>
              <a:t>Plus de 10 ans à diriger l'e-commerce d'une marque, après un parcours d'ingénieur / chef de projet IT — et une maîtrise concrète de l'IA appliquée au build logiciel.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4087368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97864" y="3977639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0E10"/>
                </a:solidFill>
                <a:latin typeface="Hanken Grotesk"/>
              </a:rPr>
              <a:t>Pilotage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cadrage, planning, coordination, recette.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636007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97864" y="4526279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0E10"/>
                </a:solidFill>
                <a:latin typeface="Hanken Grotesk"/>
              </a:rPr>
              <a:t>Pont métier ↔ tech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je parle vos deux langues.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5184647"/>
            <a:ext cx="182880" cy="0"/>
          </a:xfrm>
          <a:prstGeom prst="line">
            <a:avLst/>
          </a:prstGeom>
          <a:ln w="2032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97864" y="5074919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E0E10"/>
                </a:solidFill>
                <a:latin typeface="Hanken Grotesk"/>
              </a:rPr>
              <a:t>Intervention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3454A"/>
                </a:solidFill>
                <a:latin typeface="Hanken Grotesk"/>
              </a:rPr>
              <a:t>en régie (TJM) ou au forfait projet.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6455664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651052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140">
                <a:solidFill>
                  <a:srgbClr val="8A8D93"/>
                </a:solidFill>
                <a:latin typeface="Hanken Grotesk"/>
              </a:rPr>
              <a:t>TJM À CALER ENSEMBLE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452360" y="1097280"/>
            <a:ext cx="0" cy="484632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geo_fragment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51560"/>
            <a:ext cx="3962400" cy="475488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77824" y="704088"/>
            <a:ext cx="109728" cy="109728"/>
          </a:xfrm>
          <a:prstGeom prst="ellipse">
            <a:avLst/>
          </a:prstGeom>
          <a:solidFill>
            <a:srgbClr val="9D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6035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anken Grotesk"/>
              </a:rPr>
              <a:t>Meridian</a:t>
            </a:r>
            <a:r>
              <a:rPr sz="1500" b="0" i="0">
                <a:solidFill>
                  <a:srgbClr val="9A9A9E"/>
                </a:solidFill>
                <a:latin typeface="Hanken Grotesk"/>
              </a:rPr>
              <a:t>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6400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9DB8DD"/>
                </a:solidFill>
                <a:latin typeface="Hanken Grotesk"/>
              </a:rPr>
              <a:t>PROCHAINE ÉTAPE</a:t>
            </a:r>
          </a:p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FFFFF"/>
                </a:solidFill>
                <a:latin typeface="Hanken Grotesk"/>
              </a:rPr>
              <a:t>On commence par le PLM. </a:t>
            </a:r>
            <a:r>
              <a:rPr sz="2700" b="0" i="1">
                <a:solidFill>
                  <a:srgbClr val="9DB8DD"/>
                </a:solidFill>
                <a:latin typeface="Hanken Grotesk"/>
              </a:rPr>
              <a:t>La fondation.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C9CC"/>
                </a:solidFill>
                <a:latin typeface="Hanken Grotesk"/>
              </a:rPr>
              <a:t>Une demi-journée de cadrage suffit pour définir le périmètre de l'étape 1 et son ROI.</a:t>
            </a:r>
          </a:p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9DB8DD"/>
                </a:solidFill>
                <a:latin typeface="Hanken Grotesk"/>
              </a:rPr>
              <a:t>contact@meridian-architecture.com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6199632"/>
            <a:ext cx="1371600" cy="0"/>
          </a:xfrm>
          <a:prstGeom prst="line">
            <a:avLst/>
          </a:prstGeom>
          <a:ln w="17780">
            <a:solidFill>
              <a:srgbClr val="9DB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63276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80">
                <a:solidFill>
                  <a:srgbClr val="8E8E92"/>
                </a:solidFill>
                <a:latin typeface="Hanken Grotesk"/>
              </a:rPr>
              <a:t>MERIDIAN-ARCHITECTURE.COM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